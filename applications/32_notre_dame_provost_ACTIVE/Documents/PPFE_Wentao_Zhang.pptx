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Play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za63fXSZmaIZwNVM3JJQq8HYy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font" Target="fonts/Play-regular.fntdata"/><Relationship Id="rId11" Type="http://schemas.openxmlformats.org/officeDocument/2006/relationships/font" Target="fonts/Play-bold.fntdata"/><Relationship Id="rId1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title"/>
          </p:nvPr>
        </p:nvSpPr>
        <p:spPr>
          <a:xfrm>
            <a:off x="0" y="0"/>
            <a:ext cx="105156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body"/>
          </p:nvPr>
        </p:nvSpPr>
        <p:spPr>
          <a:xfrm>
            <a:off x="188843" y="874643"/>
            <a:ext cx="11164957" cy="530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0" y="0"/>
            <a:ext cx="105156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0" y="0"/>
            <a:ext cx="105156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0" y="0"/>
            <a:ext cx="105156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120162" y="-2056676"/>
            <a:ext cx="5302320" cy="11164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0" y="0"/>
            <a:ext cx="105156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  <a:defRPr b="0" i="0" sz="4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188843" y="874643"/>
            <a:ext cx="11164957" cy="530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0" y="0"/>
            <a:ext cx="118872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sz="3600"/>
              <a:t>Wentao Zhang</a:t>
            </a:r>
            <a:endParaRPr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188843" y="731520"/>
            <a:ext cx="11164957" cy="598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marL="228600" indent="-228600"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1450" b="1" i="0"/>
              <a:t>Doctoral degree / institution and country / actual or expected degree date</a:t>
            </a:r>
          </a:p>
          <a:p>
            <a:pPr marL="228600" indent="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350" b="0" i="0"/>
              <a:t>PhD in Electrical Engineering, Southeast University, Nanjing, China; completed September 2025 (supervisor Prof. Zhongze Wu)</a:t>
            </a:r>
          </a:p>
          <a:p>
            <a:pPr marL="228600" indent="-228600" lv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1450" b="1" i="0"/>
              <a:t>Other degrees (MS, BS, etc.) or relevant experience</a:t>
            </a:r>
          </a:p>
          <a:p>
            <a:pPr marL="228600" indent="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350" b="0" i="0"/>
              <a:t>M.Eng. (2021) and B.Eng. (2018) in Electrical Engineering, Southeast University, Nanjing, China</a:t>
            </a:r>
          </a:p>
          <a:p>
            <a:pPr marL="228600" indent="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350" b="0" i="0"/>
              <a:t>Research Assistant, Power Electronics and Machines Centre (PEMC), University of Nottingham, UK, Sep 2025 to present (EPSRC AIMD programme, magnet-free synchronous machines)</a:t>
            </a:r>
          </a:p>
          <a:p>
            <a:pPr marL="228600" indent="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350" b="0" i="0"/>
              <a:t>PhD-stage technical lead for two high-speed traction-machine prototypes in an industrial programme with Inovance</a:t>
            </a:r>
          </a:p>
          <a:p>
            <a:pPr marL="228600" indent="-228600" lv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1450" b="1" i="0"/>
              <a:t>PhD Dissertation Title: “Multi-physics Analysis and Design of Hairpin Winding PM Traction Machines in Electric Vehicles”</a:t>
            </a:r>
          </a:p>
          <a:p>
            <a:pPr marL="228600" indent="-228600" lv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1450" b="1" i="0"/>
              <a:t>Awards/Honors</a:t>
            </a:r>
          </a:p>
          <a:p>
            <a:pPr marL="457200" indent="-16000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350" b="0" i="0"/>
              <a:t>2025  1st Prize, IEEE Transactions on Energy Conversion Electric Vehicle Design Competition</a:t>
            </a:r>
          </a:p>
          <a:p>
            <a:pPr marL="457200" indent="-16000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350" b="0" i="0"/>
              <a:t>2025  2nd Prize Paper Award, IEEE Transactions on Transportation Electrification (for [J5])</a:t>
            </a:r>
          </a:p>
          <a:p>
            <a:pPr marL="457200" indent="-16000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350" b="0" i="0"/>
              <a:t>2025  MDPI </a:t>
            </a:r>
            <a:r>
              <a:rPr sz="1350" b="0" i="1"/>
              <a:t>Machines</a:t>
            </a:r>
            <a:r>
              <a:rPr sz="1350" b="0" i="0"/>
              <a:t> Best PhD Thesis Award</a:t>
            </a:r>
          </a:p>
          <a:p>
            <a:pPr marL="457200" indent="-16000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350" b="0" i="0"/>
              <a:t>2023  1st Prize, IEEE IAS CMD Thesis Contest;   2023  CIEEC Best Paper Award</a:t>
            </a:r>
          </a:p>
          <a:p>
            <a:pPr marL="228600" indent="-228600" lv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1450" b="1" i="0"/>
              <a:t>Selected Publications or Research Products (Abstracts/patents, etc.)</a:t>
            </a:r>
          </a:p>
          <a:p>
            <a:pPr marL="228600" indent="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350" b="1" i="0"/>
              <a:t>26 journal papers (20 IEEE Transactions, 11 first-author), 19 conference papers, 9 patents.</a:t>
            </a:r>
            <a:r>
              <a:rPr sz="1350" b="0" i="0"/>
              <a:t> Selected first-author work:</a:t>
            </a:r>
          </a:p>
          <a:p>
            <a:pPr marL="457200" indent="-16000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350" b="0" i="0"/>
              <a:t>[J5] Design of </a:t>
            </a:r>
            <a:r>
              <a:rPr sz="1350" b="0" i="1"/>
              <a:t>n</a:t>
            </a:r>
            <a:r>
              <a:rPr sz="1350" b="0" i="0"/>
              <a:t>-layer flat wire winding in PM machines for electric vehicles, </a:t>
            </a:r>
            <a:r>
              <a:rPr sz="1350" b="0" i="1"/>
              <a:t>IEEE Trans. Transport. Electrific.</a:t>
            </a:r>
            <a:r>
              <a:rPr sz="1350" b="0" i="0"/>
              <a:t>, 2025</a:t>
            </a:r>
          </a:p>
          <a:p>
            <a:pPr marL="457200" indent="-16000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350" b="0" i="0"/>
              <a:t>[J10] High-fidelity lumped-parameter thermal model for oil-cooled hairpin winding PM machines, </a:t>
            </a:r>
            <a:r>
              <a:rPr sz="1350" b="0" i="1"/>
              <a:t>IEEE Trans. Transport. Electrific.</a:t>
            </a:r>
            <a:r>
              <a:rPr sz="1350" b="0" i="0"/>
              <a:t>, 2026</a:t>
            </a:r>
          </a:p>
          <a:p>
            <a:pPr marL="457200" indent="-16000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350" b="0" i="0"/>
              <a:t>[J11] Notching and mechanical stress relieving grooves for high-speed PM machines, </a:t>
            </a:r>
            <a:r>
              <a:rPr sz="1350" b="0" i="1"/>
              <a:t>IEEE Trans. Ind. Appl.</a:t>
            </a:r>
            <a:r>
              <a:rPr sz="1350" b="0" i="0"/>
              <a:t>, early access, 2026</a:t>
            </a:r>
          </a:p>
          <a:p>
            <a:pPr marL="457200" indent="-16000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350" b="0" i="0"/>
              <a:t>[C1] Deep-learning magnetic field surrogate modelling for IPM machines, ICEM 2026 (accepted)</a:t>
            </a:r>
          </a:p>
          <a:p>
            <a:pPr marL="228600" indent="-228600" lv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1450" b="1" i="0"/>
              <a:t>Potential Notre Dame Mentor(s) and Department</a:t>
            </a:r>
          </a:p>
          <a:p>
            <a:pPr marL="228600" indent="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350" b="0" i="0"/>
              <a:t>Prof. Nishanth Gadiyar (proposed primary mentor), Department of Electrical Engineering, AMPERE Lab</a:t>
            </a:r>
          </a:p>
          <a:p>
            <a:pPr marL="228600" indent="-228600" lv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1450" b="1" i="0"/>
              <a:t>Desired start date range at Notre Dame</a:t>
            </a:r>
          </a:p>
          <a:p>
            <a:pPr marL="228600" indent="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350" b="0" i="0"/>
              <a:t>August to October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0" y="0"/>
            <a:ext cx="118872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sz="3600"/>
              <a:t>Wentao Zhang</a:t>
            </a:r>
            <a:r>
              <a:rPr sz="2000">
                <a:solidFill>
                  <a:srgbClr val="595959"/>
                </a:solidFill>
              </a:rPr>
              <a:t>   Previous research I: multiphysics design and validated hardware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188843" y="731520"/>
            <a:ext cx="7635240" cy="598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marL="228600" indent="-228600"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1350" b="1" i="0"/>
              <a:t>Previous research (include figures and citations as applicable)</a:t>
            </a:r>
          </a:p>
          <a:p>
            <a:pPr marL="228600" indent="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250" b="0" i="0"/>
              <a:t>Two high-speed oil-cooled PM traction machines taken from specification to dynamometer test in an industrial programme with Inovance (all values measured):</a:t>
            </a:r>
          </a:p>
          <a:p>
            <a:pPr marL="457200" indent="-16000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250" b="0" i="0"/>
              <a:t>20,000 rpm, 270 kW, 380 Nm, </a:t>
            </a:r>
            <a:r>
              <a:rPr sz="1250" b="1" i="0"/>
              <a:t>7.87 kW/kg</a:t>
            </a:r>
            <a:r>
              <a:rPr sz="1250" b="0" i="0"/>
              <a:t>, 97.4% peak efficiency</a:t>
            </a:r>
          </a:p>
          <a:p>
            <a:pPr marL="457200" indent="-16000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250" b="0" i="0"/>
              <a:t>18,000 rpm, 113 kW, 138 Nm, 7.78 kW/kg, 95.3% peak efficiency</a:t>
            </a:r>
          </a:p>
          <a:p>
            <a:pPr marL="228600" indent="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250" b="0" i="0"/>
              <a:t>Models behind the hardware, each checked against test:</a:t>
            </a:r>
          </a:p>
          <a:p>
            <a:pPr marL="457200" indent="-16000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250" b="0" i="0"/>
              <a:t>Thermal: oil-cooled thermal network </a:t>
            </a:r>
            <a:r>
              <a:rPr sz="1250" b="1" i="0"/>
              <a:t>validated against thermocouples across the full operating map</a:t>
            </a:r>
            <a:r>
              <a:rPr sz="1250" b="0" i="0"/>
              <a:t> [J10]; transient thermal model [J12]; thermal-network patent [P4]</a:t>
            </a:r>
          </a:p>
          <a:p>
            <a:pPr marL="457200" indent="-16000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250" b="0" i="0"/>
              <a:t>Mechanical: rotor stress relieving grooves, confirmed by a </a:t>
            </a:r>
            <a:r>
              <a:rPr sz="1250" b="1" i="0"/>
              <a:t>22,500 rpm overspeed test</a:t>
            </a:r>
            <a:r>
              <a:rPr sz="1250" b="0" i="0"/>
              <a:t> [J11]</a:t>
            </a:r>
          </a:p>
          <a:p>
            <a:pPr marL="457200" indent="-16000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250" b="0" i="0"/>
              <a:t>Electromagnetic and manufacturing: </a:t>
            </a:r>
            <a:r>
              <a:rPr sz="1250" b="0" i="1"/>
              <a:t>n</a:t>
            </a:r>
            <a:r>
              <a:rPr sz="1250" b="0" i="0"/>
              <a:t>-layer flat-wire (hairpin) winding methodology [J5] (2025 IEEE TTE Prize Paper Award, 2nd Prize); PWM excitation effects on loss and temperature [J22]</a:t>
            </a:r>
          </a:p>
          <a:p>
            <a:pPr marL="228600" indent="-228600" lv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1350" b="1" i="0"/>
              <a:t>Research skills / experience</a:t>
            </a:r>
          </a:p>
          <a:p>
            <a:pPr marL="457200" indent="-16000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250" b="0" i="0"/>
              <a:t>Electromagnetic and structural FE: ANSYS Maxwell 2D/3D, JMAG, FEMM 4.2, ANSYS Mechanical</a:t>
            </a:r>
          </a:p>
          <a:p>
            <a:pPr marL="457200" indent="-16000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250" b="0" i="0"/>
              <a:t>Thermal networks and Motor-CAD; SolidWorks and AutoCAD drawings with tolerances</a:t>
            </a:r>
          </a:p>
          <a:p>
            <a:pPr marL="457200" indent="-16000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250" b="0" i="0"/>
              <a:t>Dynamometer, thermal and overspeed testing; C/C++ on TI C2000 and STM32</a:t>
            </a:r>
          </a:p>
          <a:p>
            <a:pPr marL="228600" indent="-228600" lv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1350" b="1" i="0"/>
              <a:t>Highlight your role in project for multidisciplinary work (if applicable)</a:t>
            </a:r>
          </a:p>
          <a:p>
            <a:pPr marL="228600" indent="0" lv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250" b="1" i="0"/>
              <a:t>Technical lead</a:t>
            </a:r>
            <a:r>
              <a:rPr sz="1250" b="0" i="0"/>
              <a:t> from specification through design, drawing and tolerance release and supplier manufacture to AVL dynamometer test, making electromagnetic, thermal, mechanical and manufacturing decisions in one design loop.</a:t>
            </a:r>
          </a:p>
        </p:txBody>
      </p:sp>
      <p:pic>
        <p:nvPicPr>
          <p:cNvPr id="92" name="Picture 91" descr="j11_r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868680"/>
            <a:ext cx="3977639" cy="2640561"/>
          </a:xfrm>
          <a:prstGeom prst="rect">
            <a:avLst/>
          </a:prstGeom>
          <a:ln w="6350">
            <a:solidFill>
              <a:srgbClr val="BFBFBF"/>
            </a:solidFill>
          </a:ln>
        </p:spPr>
      </p:pic>
      <p:sp>
        <p:nvSpPr>
          <p:cNvPr id="93" name="TextBox 92"/>
          <p:cNvSpPr txBox="1"/>
          <p:nvPr/>
        </p:nvSpPr>
        <p:spPr>
          <a:xfrm>
            <a:off x="7863840" y="3547872"/>
            <a:ext cx="425196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[J11] High-speed flat-wire PM prototype on the dynamometer test rig (oil-cooled)</a:t>
            </a:r>
          </a:p>
        </p:txBody>
      </p:sp>
      <p:pic>
        <p:nvPicPr>
          <p:cNvPr id="94" name="Picture 93" descr="j10_a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4069080"/>
            <a:ext cx="3611880" cy="1885322"/>
          </a:xfrm>
          <a:prstGeom prst="rect">
            <a:avLst/>
          </a:prstGeom>
          <a:ln w="6350">
            <a:solidFill>
              <a:srgbClr val="BFBFBF"/>
            </a:solidFill>
          </a:ln>
        </p:spPr>
      </p:pic>
      <p:sp>
        <p:nvSpPr>
          <p:cNvPr id="95" name="TextBox 94"/>
          <p:cNvSpPr txBox="1"/>
          <p:nvPr/>
        </p:nvSpPr>
        <p:spPr>
          <a:xfrm>
            <a:off x="7863840" y="5989320"/>
            <a:ext cx="425196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[J10] Measured (EXP) and thermal-network predicted temperature, oil-cooling Test II (crown section 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0" y="0"/>
            <a:ext cx="118872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sz="3600"/>
              <a:t>Wentao Zhang</a:t>
            </a:r>
            <a:r>
              <a:rPr sz="2000">
                <a:solidFill>
                  <a:srgbClr val="595959"/>
                </a:solidFill>
              </a:rPr>
              <a:t>   Previous research II: physics-informed AI on an in-house FE solver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188843" y="731520"/>
            <a:ext cx="7269480" cy="598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marL="228600" indent="-228600"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1350" b="1" i="0"/>
              <a:t>Previous research (include figures and citations as applicable)</a:t>
            </a:r>
          </a:p>
          <a:p>
            <a:pPr marL="457200" indent="-160000" lv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250" b="1" i="0"/>
              <a:t>In-house Python FE package</a:t>
            </a:r>
            <a:r>
              <a:rPr sz="1250" b="0" i="0"/>
              <a:t> (geometry, mesh, electromagnetic, structural-modal and stress solvers), developed at PEMC and used as the reference for learned models</a:t>
            </a:r>
          </a:p>
          <a:p>
            <a:pPr marL="457200" indent="-160000" lv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250" b="0" i="0"/>
              <a:t>[C1] Physics-informed full-field magnetic surrogate of an IPM machine trained on this solver: R² = 0.9996 (torque) and 0.9730 (iron loss) on unseen designs; </a:t>
            </a:r>
            <a:r>
              <a:rPr sz="1250" b="1" i="0"/>
              <a:t>more than 94% faster</a:t>
            </a:r>
            <a:r>
              <a:rPr sz="1250" b="0" i="0"/>
              <a:t> than FEA; 15 design inputs</a:t>
            </a:r>
          </a:p>
          <a:p>
            <a:pPr marL="457200" indent="-160000" lv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250" b="0" i="0"/>
              <a:t>[J6] Hybrid AI-plus-physics optimisation cut a 67-hour FE optimisation to 2.3 hours; [P3] dual-model database patent</a:t>
            </a:r>
          </a:p>
          <a:p>
            <a:pPr marL="457200" indent="-160000" lv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250" b="0" i="0"/>
              <a:t>Current project: LLM-agent-assisted design and training of physics-informed surrogates (six months), supported by in-kind API credits from the OpenAI Researcher Access Program</a:t>
            </a:r>
          </a:p>
          <a:p>
            <a:pPr marL="228600" indent="-228600" lvl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1350" b="1" i="0"/>
              <a:t>Research skills / experience</a:t>
            </a:r>
          </a:p>
          <a:p>
            <a:pPr marL="457200" indent="-160000" lv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250" b="0" i="0"/>
              <a:t>Python, PyTorch, MATLAB/Simulink; FE solver development</a:t>
            </a:r>
          </a:p>
          <a:p>
            <a:pPr marL="457200" indent="-160000" lv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250" b="0" i="0"/>
              <a:t>JMAG, ANSYS Maxwell, Motor-CAD for cross-checking learned models</a:t>
            </a:r>
          </a:p>
          <a:p>
            <a:pPr marL="457200" indent="-160000" lv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250" b="0" i="0"/>
              <a:t>Dynamometer testing, which supplies measured data to hold models to</a:t>
            </a:r>
          </a:p>
          <a:p>
            <a:pPr marL="228600" indent="-228600" lvl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1350" b="1" i="0"/>
              <a:t>Highlight your role in project for multidisciplinary work (if applicable)</a:t>
            </a:r>
          </a:p>
          <a:p>
            <a:pPr marL="228600" indent="0" lv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1250" b="0" i="0"/>
              <a:t>First author of [C1] and [J6]; I lead the current LLM-agent project at PEMC. The work joins electrical-machine design and machine learning: I write the FE solver, train the models and check them against FE and, where available, measurement.</a:t>
            </a:r>
          </a:p>
        </p:txBody>
      </p:sp>
      <p:pic>
        <p:nvPicPr>
          <p:cNvPr id="98" name="Picture 97" descr="c1_fe_no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655" y="960120"/>
            <a:ext cx="3133651" cy="2377440"/>
          </a:xfrm>
          <a:prstGeom prst="rect">
            <a:avLst/>
          </a:prstGeom>
          <a:ln w="6350">
            <a:solidFill>
              <a:srgbClr val="BFBFBF"/>
            </a:solidFill>
          </a:ln>
        </p:spPr>
      </p:pic>
      <p:sp>
        <p:nvSpPr>
          <p:cNvPr id="99" name="TextBox 98"/>
          <p:cNvSpPr txBox="1"/>
          <p:nvPr/>
        </p:nvSpPr>
        <p:spPr>
          <a:xfrm>
            <a:off x="7589520" y="3364992"/>
            <a:ext cx="448056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(a) FE analysis (in-house solver)</a:t>
            </a:r>
          </a:p>
        </p:txBody>
      </p:sp>
      <p:pic>
        <p:nvPicPr>
          <p:cNvPr id="100" name="Picture 99" descr="c1_d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809" y="3657600"/>
            <a:ext cx="3603983" cy="2377440"/>
          </a:xfrm>
          <a:prstGeom prst="rect">
            <a:avLst/>
          </a:prstGeom>
          <a:ln w="6350">
            <a:solidFill>
              <a:srgbClr val="BFBFBF"/>
            </a:solidFill>
          </a:ln>
        </p:spPr>
      </p:pic>
      <p:sp>
        <p:nvSpPr>
          <p:cNvPr id="101" name="TextBox 100"/>
          <p:cNvSpPr txBox="1"/>
          <p:nvPr/>
        </p:nvSpPr>
        <p:spPr>
          <a:xfrm>
            <a:off x="7589520" y="6062472"/>
            <a:ext cx="448056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(b) Deep-learning surrogate with Fourier layer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589520" y="676656"/>
            <a:ext cx="448056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Arial"/>
              </a:rPr>
              <a:t>[C1] Flux-density field on a design not seen in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0" y="0"/>
            <a:ext cx="118872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sz="3600"/>
              <a:t>Wentao Zhang</a:t>
            </a:r>
            <a:r>
              <a:rPr sz="2000">
                <a:solidFill>
                  <a:srgbClr val="595959"/>
                </a:solidFill>
              </a:rPr>
              <a:t>   Proposed research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188843" y="731520"/>
            <a:ext cx="763524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marL="228600" indent="-228600"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1350" b="1" i="0"/>
              <a:t>Proposed research (include names of potential Notre Dame mentors)</a:t>
            </a:r>
          </a:p>
          <a:p>
            <a:pPr marL="228600" indent="0" lv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1250" b="1" i="1"/>
              <a:t>Physics-consistent learned models for multiphysics design of electric machines beyond rare-earth magnets</a:t>
            </a:r>
          </a:p>
          <a:p>
            <a:pPr marL="228600" indent="0" lv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1250" b="0" i="0"/>
              <a:t>FE evaluation of a machine design takes minutes to hours. Learned surrogates are fast, but a small field error can hide a large energy or loss error, and most are tied to one topology.</a:t>
            </a:r>
          </a:p>
          <a:p>
            <a:pPr marL="457200" indent="-160000" lv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250" b="1" i="0"/>
              <a:t>Aim 1 (months 1 to 8)</a:t>
            </a:r>
            <a:r>
              <a:rPr sz="1250" b="0" i="0"/>
              <a:t> Physics-consistent field operator: energy-norm and loss-consistent training; calibrated uncertainty so the FE solver is called only where the model is unsure. </a:t>
            </a:r>
            <a:r>
              <a:rPr sz="1250" b="0" i="1"/>
              <a:t>Milestone:</a:t>
            </a:r>
            <a:r>
              <a:rPr sz="1250" b="0" i="0"/>
              <a:t> energy-norm and iron-loss errors within a stated band on held-out designs across at least two topology families.</a:t>
            </a:r>
          </a:p>
          <a:p>
            <a:pPr marL="457200" indent="-160000" lv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250" b="1" i="0"/>
              <a:t>Aim 2 (months 6 to 16)</a:t>
            </a:r>
            <a:r>
              <a:rPr sz="1250" b="0" i="0"/>
              <a:t> Transfer to new topologies and materials by fine-tuning a frozen checkpoint: rare-earth-lean and magnet-free machines, AMPERE’s additively manufactured SynRel and axial-flux designs. </a:t>
            </a:r>
            <a:r>
              <a:rPr sz="1250" b="0" i="1"/>
              <a:t>Milestone:</a:t>
            </a:r>
            <a:r>
              <a:rPr sz="1250" b="0" i="0"/>
              <a:t> transfer with a stated fraction of the FE data a from-scratch model needs.</a:t>
            </a:r>
          </a:p>
          <a:p>
            <a:pPr marL="457200" indent="-160000" lv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250" b="1" i="0"/>
              <a:t>Aim 3 (months 12 to 24)</a:t>
            </a:r>
            <a:r>
              <a:rPr sz="1250" b="0" i="0"/>
              <a:t> Coupled loss-thermal prediction: loss maps into the validated thermal network [J10], compared with dynamometer data. </a:t>
            </a:r>
            <a:r>
              <a:rPr sz="1250" b="0" i="1"/>
              <a:t>Milestone:</a:t>
            </a:r>
            <a:r>
              <a:rPr sz="1250" b="0" i="0"/>
              <a:t> validated predictions on one AMPERE machine and one Inovance-derived dataset.</a:t>
            </a:r>
          </a:p>
          <a:p>
            <a:pPr marL="228600" indent="0" lv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1250" b="1" i="0"/>
              <a:t>Proposed primary mentor: Prof. Nishanth Gadiyar</a:t>
            </a:r>
            <a:r>
              <a:rPr sz="1250" b="0" i="0"/>
              <a:t> (Electrical Engineering, AMPERE Lab). The work connects to the lab’s AI-Accelerated Design and Integrated Electro-Mechanical Systems thrusts, and its AM SynRel, axial-flux and rare-earth-lean hardware supplies the transfer test cases.</a:t>
            </a:r>
          </a:p>
          <a:p>
            <a:pPr marL="228600" indent="-228600" lv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1350" b="1" i="0"/>
              <a:t>Resources needed for project (if applicable)</a:t>
            </a:r>
          </a:p>
          <a:p>
            <a:pPr marL="228600" indent="0" lv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1250" b="0" i="0"/>
              <a:t>GPU compute from the $15,000 allowance; AMPERE Lab machines and test facilities; JMAG alongside the in-house solver.</a:t>
            </a:r>
          </a:p>
          <a:p>
            <a:pPr marL="228600" indent="-228600" lv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1350" b="1" i="0"/>
              <a:t>Include figures and citations as appropriate</a:t>
            </a:r>
          </a:p>
          <a:p>
            <a:pPr marL="228600" indent="0" lv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1250" b="0" i="0"/>
              <a:t>Schematic and preliminary results at right; citations [C1], [J10].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092440" y="868680"/>
            <a:ext cx="3886200" cy="86868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 i="0">
                <a:solidFill>
                  <a:srgbClr val="000000"/>
                </a:solidFill>
                <a:latin typeface="Arial"/>
              </a:rPr>
              <a:t>In-house FE solver + measurements</a:t>
            </a:r>
          </a:p>
          <a:p>
            <a:pPr algn="ctr"/>
            <a:r>
              <a:rPr sz="1050" b="0" i="0">
                <a:solidFill>
                  <a:srgbClr val="000000"/>
                </a:solidFill>
                <a:latin typeface="Arial"/>
              </a:rPr>
              <a:t>fields, losses, temperatures [C1], [J10]</a:t>
            </a:r>
          </a:p>
        </p:txBody>
      </p:sp>
      <p:sp>
        <p:nvSpPr>
          <p:cNvPr id="105" name="Down Arrow 104"/>
          <p:cNvSpPr/>
          <p:nvPr/>
        </p:nvSpPr>
        <p:spPr>
          <a:xfrm>
            <a:off x="9852660" y="1764792"/>
            <a:ext cx="365760" cy="292608"/>
          </a:xfrm>
          <a:prstGeom prst="downArrow">
            <a:avLst/>
          </a:prstGeom>
          <a:solidFill>
            <a:srgbClr val="8C9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8092440" y="2084831"/>
            <a:ext cx="3886200" cy="868680"/>
          </a:xfrm>
          <a:prstGeom prst="roundRect">
            <a:avLst>
              <a:gd name="adj" fmla="val 8000"/>
            </a:avLst>
          </a:prstGeom>
          <a:solidFill>
            <a:srgbClr val="D6E4F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 i="0">
                <a:solidFill>
                  <a:srgbClr val="000000"/>
                </a:solidFill>
                <a:latin typeface="Arial"/>
              </a:rPr>
              <a:t>Physics-consistent operator</a:t>
            </a:r>
          </a:p>
          <a:p>
            <a:pPr algn="ctr"/>
            <a:r>
              <a:rPr sz="1050" b="0" i="0">
                <a:solidFill>
                  <a:srgbClr val="000000"/>
                </a:solidFill>
                <a:latin typeface="Arial"/>
              </a:rPr>
              <a:t>energy-norm and loss-consistent training, calibrated uncertainty (Aim 1)</a:t>
            </a:r>
          </a:p>
        </p:txBody>
      </p:sp>
      <p:sp>
        <p:nvSpPr>
          <p:cNvPr id="107" name="Down Arrow 106"/>
          <p:cNvSpPr/>
          <p:nvPr/>
        </p:nvSpPr>
        <p:spPr>
          <a:xfrm>
            <a:off x="9852660" y="2980944"/>
            <a:ext cx="365760" cy="292608"/>
          </a:xfrm>
          <a:prstGeom prst="downArrow">
            <a:avLst/>
          </a:prstGeom>
          <a:solidFill>
            <a:srgbClr val="8C9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8092440" y="3300984"/>
            <a:ext cx="3886200" cy="86868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 i="0">
                <a:solidFill>
                  <a:srgbClr val="000000"/>
                </a:solidFill>
                <a:latin typeface="Arial"/>
              </a:rPr>
              <a:t>Transfer and coupled prediction</a:t>
            </a:r>
          </a:p>
          <a:p>
            <a:pPr algn="ctr"/>
            <a:r>
              <a:rPr sz="1050" b="0" i="0">
                <a:solidFill>
                  <a:srgbClr val="000000"/>
                </a:solidFill>
                <a:latin typeface="Arial"/>
              </a:rPr>
              <a:t>new topologies and materials (Aim 2); loss-thermal, checked on hardware (Aim 3)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092440" y="4370832"/>
            <a:ext cx="3886200" cy="1627632"/>
          </a:xfrm>
          <a:prstGeom prst="rect">
            <a:avLst/>
          </a:prstGeom>
          <a:solidFill>
            <a:srgbClr val="FAFAFA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000000"/>
                </a:solidFill>
                <a:latin typeface="Arial"/>
              </a:rPr>
              <a:t>Preliminary, single-seed results (unpublished)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000000"/>
                </a:solidFill>
                <a:latin typeface="Arial"/>
              </a:rPr>
              <a:t>Coordinate-network / neural-operator model of the vector potential, conditioned on design and rotor position: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000000"/>
                </a:solidFill>
                <a:latin typeface="Arial"/>
              </a:rPr>
              <a:t>• FE energy-norm term: energy-norm error 29.8% → 5.4%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000000"/>
                </a:solidFill>
                <a:latin typeface="Arial"/>
              </a:rPr>
              <a:t>• Rotor-frame coherence term: rotor iron-loss error 50% → 13%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000000"/>
                </a:solidFill>
                <a:latin typeface="Arial"/>
              </a:rPr>
              <a:t>• Transfer to a new magnet grade (remanence 1.165 → 1.42 T) by fine-tuning a frozen checkpoint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0" y="0"/>
            <a:ext cx="118872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sz="3600"/>
              <a:t>Wentao Zhang</a:t>
            </a:r>
            <a:r>
              <a:rPr sz="2000">
                <a:solidFill>
                  <a:srgbClr val="595959"/>
                </a:solidFill>
              </a:rPr>
              <a:t>   Teaching, training goals and career plan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167578" y="777240"/>
            <a:ext cx="11164957" cy="589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marL="228600" indent="-228600"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1550" b="1" i="0"/>
              <a:t>Teaching/mentoring/professional service experience</a:t>
            </a:r>
          </a:p>
          <a:p>
            <a:pPr marL="457200" indent="-160000" lv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450" b="0" i="0"/>
              <a:t>Teaching assistant, Southeast University postgraduate course </a:t>
            </a:r>
            <a:r>
              <a:rPr sz="1450" b="0" i="1"/>
              <a:t>Integrated Practice of Electrical Machine Systems</a:t>
            </a:r>
            <a:r>
              <a:rPr sz="1450" b="0" i="0"/>
              <a:t> (2021 to 2025): tutorial preparation and delivery, Q&amp;A and consultation hours, structured written feedback on final-project proposals, mark recommendations to the coordinator</a:t>
            </a:r>
          </a:p>
          <a:p>
            <a:pPr marL="457200" indent="-160000" lv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450" b="0" i="0"/>
              <a:t>Developed tutorial and assessment materials and two research-derived resources: a coupled electromagnetic-thermal modelling exercise and an embedded motor-drive practical</a:t>
            </a:r>
          </a:p>
          <a:p>
            <a:pPr marL="457200" indent="-160000" lv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450" b="0" i="0"/>
              <a:t>Day-to-day technical guidance to junior PhD and M.Eng. researchers (FEA, thermal networks, PWM-loss modelling), reflected in jointly authored papers; informal mentoring continues at PEMC</a:t>
            </a:r>
          </a:p>
          <a:p>
            <a:pPr marL="457200" indent="-160000" lv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450" b="0" i="0"/>
              <a:t>Referee for </a:t>
            </a:r>
            <a:r>
              <a:rPr sz="1450" b="0" i="1"/>
              <a:t>IEEE Trans. Industry Applications</a:t>
            </a:r>
            <a:r>
              <a:rPr sz="1450" b="0" i="0"/>
              <a:t>, </a:t>
            </a:r>
            <a:r>
              <a:rPr sz="1450" b="0" i="1"/>
              <a:t>IEEE Trans. Energy Conversion</a:t>
            </a:r>
            <a:r>
              <a:rPr sz="1450" b="0" i="0"/>
              <a:t> and </a:t>
            </a:r>
            <a:r>
              <a:rPr sz="1450" b="0" i="1"/>
              <a:t>IEEE Trans. Transportation Electrification</a:t>
            </a:r>
          </a:p>
          <a:p>
            <a:pPr marL="457200" indent="-160000" lv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450" b="1" i="0"/>
              <a:t>Co-Organiser</a:t>
            </a:r>
            <a:r>
              <a:rPr sz="1450" b="0" i="0"/>
              <a:t>, ICEM 2026 Special Session “Next-Generation Electrified Transport: Advances in Electric Drive Systems”, Funchal, Madeira, Portugal (with Dr Lingyun Shao, NUAA)</a:t>
            </a:r>
          </a:p>
          <a:p>
            <a:pPr marL="228600" indent="-228600" lvl="0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1550" b="1" i="0"/>
              <a:t>Goals for postdoctoral training period</a:t>
            </a:r>
          </a:p>
          <a:p>
            <a:pPr marL="457200" indent="-160000" lv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450" b="0" i="0"/>
              <a:t>Build an </a:t>
            </a:r>
            <a:r>
              <a:rPr sz="1450" b="1" i="0"/>
              <a:t>independent research programme</a:t>
            </a:r>
            <a:r>
              <a:rPr sz="1450" b="0" i="0"/>
              <a:t> on physics-consistent learned models with the AMPERE Lab</a:t>
            </a:r>
          </a:p>
          <a:p>
            <a:pPr marL="457200" indent="-160000" lv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450" b="0" i="0"/>
              <a:t>Formally co-mentor graduate and undergraduate students (my mentoring so far has been informal)</a:t>
            </a:r>
          </a:p>
          <a:p>
            <a:pPr marL="457200" indent="-160000" lv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450" b="0" i="0"/>
              <a:t>Prepare grant proposals to NSF, DOE and ARPA-E (I have not yet led a funded project)</a:t>
            </a:r>
          </a:p>
          <a:p>
            <a:pPr marL="457200" indent="-160000" lv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450" b="0" i="0"/>
              <a:t>Take part in the College of Engineering Postdoctoral Training program and its cohort</a:t>
            </a:r>
          </a:p>
          <a:p>
            <a:pPr marL="457200" indent="-160000" lv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sz="1450" b="0" i="0"/>
              <a:t>Build a US research network through Prof. Gadiyar’s WEMPEC, GE Research and Oak Ridge National Laboratory links</a:t>
            </a:r>
          </a:p>
          <a:p>
            <a:pPr marL="228600" indent="-228600" lvl="0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1550" b="1" i="0"/>
              <a:t>Career plans/goals following fellowship</a:t>
            </a:r>
          </a:p>
          <a:p>
            <a:pPr marL="228600" indent="0" lv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450" b="0" i="0"/>
              <a:t>A </a:t>
            </a:r>
            <a:r>
              <a:rPr sz="1450" b="1" i="0"/>
              <a:t>tenure-track faculty post</a:t>
            </a:r>
            <a:r>
              <a:rPr sz="1450" b="0" i="0"/>
              <a:t> in electrical machines and physics-informed AI, leading a group that designs, builds and tests machines and holds its learned models to measurement.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2025-01-29T20:19:38Z</dcterms:created>
  <dc:creator>Thomas O'Sullivan</dc:creator>
</cp:coreProperties>
</file>